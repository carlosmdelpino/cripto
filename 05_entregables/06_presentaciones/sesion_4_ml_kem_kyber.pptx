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2F6FA"/>
          </a:solidFill>
          <a:ln>
            <a:solidFill>
              <a:srgbClr val="F2F6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9601200" cy="1097280"/>
          </a:xfrm>
          <a:prstGeom prst="rect">
            <a:avLst/>
          </a:prstGeom>
          <a:solidFill>
            <a:srgbClr val="115EAA"/>
          </a:solidFill>
          <a:ln>
            <a:solidFill>
              <a:srgbClr val="115E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Criptografía post-cuántica: ML-KEM y Kyber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560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900">
                <a:solidFill>
                  <a:srgbClr val="283642"/>
                </a:solidFill>
                <a:latin typeface="Calibri"/>
              </a:rPr>
              <a:t>Tema 4 — KEMs, LWE y despliegue práctico</a:t>
            </a:r>
          </a:p>
        </p:txBody>
      </p:sp>
      <p:sp>
        <p:nvSpPr>
          <p:cNvPr id="5" name="Rectangle 4"/>
          <p:cNvSpPr/>
          <p:nvPr/>
        </p:nvSpPr>
        <p:spPr>
          <a:xfrm>
            <a:off x="9692640" y="1645920"/>
            <a:ext cx="1737360" cy="1737360"/>
          </a:xfrm>
          <a:prstGeom prst="rect">
            <a:avLst/>
          </a:prstGeom>
          <a:solidFill>
            <a:srgbClr val="4C88D8"/>
          </a:solidFill>
          <a:ln>
            <a:solidFill>
              <a:srgbClr val="4C88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784080" y="2011680"/>
            <a:ext cx="15544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Calibri"/>
              </a:rPr>
              <a:t>04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F2F6FA"/>
          </a:solidFill>
          <a:ln>
            <a:solidFill>
              <a:srgbClr val="F2F6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37160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1C2634"/>
                </a:solidFill>
                <a:latin typeface="Calibri"/>
              </a:rPr>
              <a:t>Tema 4 — núcleo del problema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10789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1C2634"/>
                </a:solidFill>
                <a:latin typeface="Calibri"/>
              </a:rPr>
              <a:t>¿Qué amenaza a RSA y ECC?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73736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283642"/>
                </a:solidFill>
                <a:latin typeface="Calibri"/>
              </a:rPr>
              <a:t>RSA depende de factorizar números grandes.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283642"/>
                </a:solidFill>
                <a:latin typeface="Calibri"/>
              </a:rPr>
              <a:t>ECC depende del logaritmo discreto sobre curvas.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283642"/>
                </a:solidFill>
                <a:latin typeface="Calibri"/>
              </a:rPr>
              <a:t>Shor los rompe con un ordenador cuántico suficientemente grande.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283642"/>
                </a:solidFill>
                <a:latin typeface="Calibri"/>
              </a:rPr>
              <a:t>La amenaza real también incluye el almacenamiento y descifrado futuro de tráfico cifrado.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F2F6FA"/>
          </a:solidFill>
          <a:ln>
            <a:solidFill>
              <a:srgbClr val="F2F6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37160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1C2634"/>
                </a:solidFill>
                <a:latin typeface="Calibri"/>
              </a:rPr>
              <a:t>Tema 4 — definición del objetivo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10789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1C2634"/>
                </a:solidFill>
                <a:latin typeface="Calibri"/>
              </a:rPr>
              <a:t>Qué hace un KEM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828800"/>
            <a:ext cx="10058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1">
                <a:solidFill>
                  <a:srgbClr val="115EAA"/>
                </a:solidFill>
                <a:latin typeface="Calibri"/>
              </a:rPr>
              <a:t>KeyGen() -&gt; (pk, sk)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1828800"/>
            <a:ext cx="10058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1">
                <a:solidFill>
                  <a:srgbClr val="115EAA"/>
                </a:solidFill>
                <a:latin typeface="Calibri"/>
              </a:rPr>
              <a:t>Encaps(pk) -&gt; (c, K)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10058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1">
                <a:solidFill>
                  <a:srgbClr val="115EAA"/>
                </a:solidFill>
                <a:latin typeface="Calibri"/>
              </a:rPr>
              <a:t>Decaps(sk, c) -&gt; 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92608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283642"/>
                </a:solidFill>
                <a:latin typeface="Calibri"/>
              </a:rPr>
              <a:t>El KEM no cifra el archivo completo; acuerda una clave compartida.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283642"/>
                </a:solidFill>
                <a:latin typeface="Calibri"/>
              </a:rPr>
              <a:t>Después se usa una KDF y un cifrado autenticado como AES-GCM.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283642"/>
                </a:solidFill>
                <a:latin typeface="Calibri"/>
              </a:rPr>
              <a:t>La clave pública puede transmitirse; la privada debe protegerse.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F2F6FA"/>
          </a:solidFill>
          <a:ln>
            <a:solidFill>
              <a:srgbClr val="F2F6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37160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1C2634"/>
                </a:solidFill>
                <a:latin typeface="Calibri"/>
              </a:rPr>
              <a:t>Tema 4 — intuición matemática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10789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1C2634"/>
                </a:solidFill>
                <a:latin typeface="Calibri"/>
              </a:rPr>
              <a:t>LWE y Module-LWE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828800"/>
            <a:ext cx="10058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1">
                <a:solidFill>
                  <a:srgbClr val="115EAA"/>
                </a:solidFill>
                <a:latin typeface="Calibri"/>
              </a:rPr>
              <a:t>b = A·s + e   (mod q)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46888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283642"/>
                </a:solidFill>
                <a:latin typeface="Calibri"/>
              </a:rPr>
              <a:t>A y b pueden ser públicos; s es el secreto y e es un error pequeño.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283642"/>
                </a:solidFill>
                <a:latin typeface="Calibri"/>
              </a:rPr>
              <a:t>La estructura de ruido hace que el problema sea difícil de resolver sin la clave correcta.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283642"/>
                </a:solidFill>
                <a:latin typeface="Calibri"/>
              </a:rPr>
              <a:t>ML-KEM usa Module-LWE con polinomios y un anillo cociente.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F2F6FA"/>
          </a:solidFill>
          <a:ln>
            <a:solidFill>
              <a:srgbClr val="F2F6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37160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1C2634"/>
                </a:solidFill>
                <a:latin typeface="Calibri"/>
              </a:rPr>
              <a:t>Tema 4 — ejemplo guiado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10789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1C2634"/>
                </a:solidFill>
                <a:latin typeface="Calibri"/>
              </a:rPr>
              <a:t>Ejemplo simple de LWE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828800"/>
            <a:ext cx="10058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1">
                <a:solidFill>
                  <a:srgbClr val="115EAA"/>
                </a:solidFill>
                <a:latin typeface="Calibri"/>
              </a:rPr>
              <a:t>q = 17,   A = [[4, 7], [3, 5]],   s = [2, 6]^T,   e = [1, -1]^T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1828800"/>
            <a:ext cx="10058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1">
                <a:solidFill>
                  <a:srgbClr val="115EAA"/>
                </a:solidFill>
                <a:latin typeface="Calibri"/>
              </a:rPr>
              <a:t>b = A·s + e = [51,35]^T ≡ [0,1]^T (mod 17)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291840"/>
            <a:ext cx="105156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283642"/>
                </a:solidFill>
                <a:latin typeface="Calibri"/>
              </a:rPr>
              <a:t>La idea es que el atacante observa A y b, pero no conoce s.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283642"/>
                </a:solidFill>
                <a:latin typeface="Calibri"/>
              </a:rPr>
              <a:t>El ruido hace que el problema no sea un sistema lineal exacto.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283642"/>
                </a:solidFill>
                <a:latin typeface="Calibri"/>
              </a:rPr>
              <a:t>ML-KEM escala este concepto a millones de dimensiones y parámetros bien diseñados.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F2F6FA"/>
          </a:solidFill>
          <a:ln>
            <a:solidFill>
              <a:srgbClr val="F2F6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37160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1C2634"/>
                </a:solidFill>
                <a:latin typeface="Calibri"/>
              </a:rPr>
              <a:t>Tema 4 — comparación rápida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10789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1C2634"/>
                </a:solidFill>
                <a:latin typeface="Calibri"/>
              </a:rPr>
              <a:t>Familias post-cuánticas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5029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1">
                <a:solidFill>
                  <a:srgbClr val="115EAA"/>
                </a:solidFill>
                <a:latin typeface="Calibri"/>
              </a:rPr>
              <a:t>Retículos</a:t>
            </a:r>
          </a:p>
          <a:p>
            <a:pPr algn="l"/>
            <a:r>
              <a:rPr sz="1700">
                <a:solidFill>
                  <a:srgbClr val="283642"/>
                </a:solidFill>
                <a:latin typeface="Calibri"/>
              </a:rPr>
              <a:t>ML-KEM / Kyber</a:t>
            </a:r>
          </a:p>
          <a:p>
            <a:pPr algn="l"/>
            <a:r>
              <a:rPr sz="1700">
                <a:solidFill>
                  <a:srgbClr val="283642"/>
                </a:solidFill>
                <a:latin typeface="Calibri"/>
              </a:rPr>
              <a:t>ML-DSA / Dilithium</a:t>
            </a:r>
          </a:p>
          <a:p>
            <a:pPr algn="l"/>
            <a:r>
              <a:rPr sz="1700">
                <a:solidFill>
                  <a:srgbClr val="283642"/>
                </a:solidFill>
                <a:latin typeface="Calibri"/>
              </a:rPr>
              <a:t>NTRU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0" y="1645920"/>
            <a:ext cx="5029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1">
                <a:solidFill>
                  <a:srgbClr val="115EAA"/>
                </a:solidFill>
                <a:latin typeface="Calibri"/>
              </a:rPr>
              <a:t>Códigos y hashes</a:t>
            </a:r>
          </a:p>
          <a:p>
            <a:pPr algn="l"/>
            <a:r>
              <a:rPr sz="1700">
                <a:solidFill>
                  <a:srgbClr val="283642"/>
                </a:solidFill>
                <a:latin typeface="Calibri"/>
              </a:rPr>
              <a:t>HQC</a:t>
            </a:r>
          </a:p>
          <a:p>
            <a:pPr algn="l"/>
            <a:r>
              <a:rPr sz="1700">
                <a:solidFill>
                  <a:srgbClr val="283642"/>
                </a:solidFill>
                <a:latin typeface="Calibri"/>
              </a:rPr>
              <a:t>Classic McEliece</a:t>
            </a:r>
          </a:p>
          <a:p>
            <a:pPr algn="l"/>
            <a:r>
              <a:rPr sz="1700">
                <a:solidFill>
                  <a:srgbClr val="283642"/>
                </a:solidFill>
                <a:latin typeface="Calibri"/>
              </a:rPr>
              <a:t>SLH-DSA / SPHINCS+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F2F6FA"/>
          </a:solidFill>
          <a:ln>
            <a:solidFill>
              <a:srgbClr val="F2F6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37160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1C2634"/>
                </a:solidFill>
                <a:latin typeface="Calibri"/>
              </a:rPr>
              <a:t>Tema 4 — flujo de uso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10789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1C2634"/>
                </a:solidFill>
                <a:latin typeface="Calibri"/>
              </a:rPr>
              <a:t>Aplicación real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828800"/>
            <a:ext cx="10058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1">
                <a:solidFill>
                  <a:srgbClr val="115EAA"/>
                </a:solidFill>
                <a:latin typeface="Calibri"/>
              </a:rPr>
              <a:t>ML-KEM -&gt; secreto compartido -&gt; HKDF -&gt; clave simétrica -&gt; AES-GCM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83464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283642"/>
                </a:solidFill>
                <a:latin typeface="Calibri"/>
              </a:rPr>
              <a:t>El cliente encapsula con la clave pública del servidor.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283642"/>
                </a:solidFill>
                <a:latin typeface="Calibri"/>
              </a:rPr>
              <a:t>Ambos obtienen el mismo secreto compartido.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283642"/>
                </a:solidFill>
                <a:latin typeface="Calibri"/>
              </a:rPr>
              <a:t>A partir de ahí, la capa simétrica cifra los datos reales.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283642"/>
                </a:solidFill>
                <a:latin typeface="Calibri"/>
              </a:rPr>
              <a:t>La clave privada del KEM debe permanecer protegida y rotarse correctamente.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F2F6FA"/>
          </a:solidFill>
          <a:ln>
            <a:solidFill>
              <a:srgbClr val="F2F6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37160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1C2634"/>
                </a:solidFill>
                <a:latin typeface="Calibri"/>
              </a:rPr>
              <a:t>Tema 4 — conclusión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10789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1C2634"/>
                </a:solidFill>
                <a:latin typeface="Calibri"/>
              </a:rPr>
              <a:t>Resumen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73736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283642"/>
                </a:solidFill>
                <a:latin typeface="Calibri"/>
              </a:rPr>
              <a:t>La amenaza cuántica impacta especialmente a RSA, ECC y DH.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283642"/>
                </a:solidFill>
                <a:latin typeface="Calibri"/>
              </a:rPr>
              <a:t>ML-KEM no es un cifrado completo: es un KEM para acordar claves.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283642"/>
                </a:solidFill>
                <a:latin typeface="Calibri"/>
              </a:rPr>
              <a:t>LWE es la base matemática que hace posible algoritmos resistentes a nivel cuántico.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283642"/>
                </a:solidFill>
                <a:latin typeface="Calibri"/>
              </a:rPr>
              <a:t>En un proyecto real, se combina con KDF, AEAD y gestión segura de claves.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