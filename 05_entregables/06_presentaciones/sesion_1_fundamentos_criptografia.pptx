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78992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1B2631"/>
                </a:solidFill>
                <a:latin typeface="Calibri"/>
              </a:rPr>
              <a:t>Fundamentos de la criptografía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45688"/>
                </a:solidFill>
                <a:latin typeface="Calibri"/>
              </a:rPr>
              <a:t>Sesión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63238"/>
                </a:solidFill>
                <a:latin typeface="Calibri"/>
              </a:rPr>
              <a:t>Modelos de amenaza, objetivos de seguridad, criptografía simétrica y asimétrica, RSA, ECC y ejemplos prácticos.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2011680"/>
            <a:ext cx="2286000" cy="2286000"/>
          </a:xfrm>
          <a:prstGeom prst="rect">
            <a:avLst/>
          </a:prstGeom>
          <a:solidFill>
            <a:srgbClr val="145688"/>
          </a:solidFill>
          <a:ln>
            <a:solidFill>
              <a:srgbClr val="145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25146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¿Qué aprenderemos?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Al finalizar esta sesión...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Comprender qué es la criptografía y por qué es esencial en la seguridad digital.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Identificar los objetivos básicos de seguridad: confidencialidad, integridad y autenticación.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Distinguir entre criptografía simétrica, asimétrica e híbrida.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Reconocer conceptos clave como clave, hash, cifrado, firma digital y MAC.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Conectar la teoría con ejemplos prácticos y fundamentos matemáticos simples.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Modelo de amenaza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Alice, Bob y 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El canal no es seguro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1463040" cy="1097280"/>
          </a:xfrm>
          <a:prstGeom prst="ellipse">
            <a:avLst/>
          </a:prstGeom>
          <a:solidFill>
            <a:srgbClr val="5B95BF"/>
          </a:solidFill>
          <a:ln>
            <a:solidFill>
              <a:srgbClr val="5B9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Alice</a:t>
            </a:r>
          </a:p>
        </p:txBody>
      </p:sp>
      <p:sp>
        <p:nvSpPr>
          <p:cNvPr id="7" name="Oval 6"/>
          <p:cNvSpPr/>
          <p:nvPr/>
        </p:nvSpPr>
        <p:spPr>
          <a:xfrm>
            <a:off x="5120640" y="1828800"/>
            <a:ext cx="1463040" cy="1097280"/>
          </a:xfrm>
          <a:prstGeom prst="ellipse">
            <a:avLst/>
          </a:prstGeom>
          <a:solidFill>
            <a:srgbClr val="145688"/>
          </a:solidFill>
          <a:ln>
            <a:solidFill>
              <a:srgbClr val="145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Bob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3383280"/>
            <a:ext cx="1554480" cy="1097280"/>
          </a:xfrm>
          <a:prstGeom prst="ellipse">
            <a:avLst/>
          </a:prstGeom>
          <a:solidFill>
            <a:srgbClr val="EB685C"/>
          </a:solidFill>
          <a:ln>
            <a:solidFill>
              <a:srgbClr val="EB6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03120"/>
            <a:ext cx="2926080" cy="73152"/>
          </a:xfrm>
          <a:prstGeom prst="rect">
            <a:avLst/>
          </a:prstGeom>
          <a:solidFill>
            <a:srgbClr val="1B2631"/>
          </a:solidFill>
          <a:ln>
            <a:solidFill>
              <a:srgbClr val="1B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697480"/>
            <a:ext cx="2194560" cy="73152"/>
          </a:xfrm>
          <a:prstGeom prst="rect">
            <a:avLst/>
          </a:prstGeom>
          <a:solidFill>
            <a:srgbClr val="1B2631"/>
          </a:solidFill>
          <a:ln>
            <a:solidFill>
              <a:srgbClr val="1B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424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263238"/>
                </a:solidFill>
                <a:latin typeface="Calibri"/>
              </a:rPr>
              <a:t>Atacante pasivo: escucha el canal.</a:t>
            </a:r>
          </a:p>
          <a:p>
            <a:pPr algn="l"/>
            <a:r>
              <a:rPr sz="1800">
                <a:solidFill>
                  <a:srgbClr val="263238"/>
                </a:solidFill>
                <a:latin typeface="Calibri"/>
              </a:rPr>
              <a:t>Atacante activo: modifica, inyecta, elimina o repite mensajes.</a:t>
            </a:r>
          </a:p>
          <a:p>
            <a:pPr algn="l"/>
            <a:r>
              <a:rPr sz="1800">
                <a:solidFill>
                  <a:srgbClr val="263238"/>
                </a:solidFill>
                <a:latin typeface="Calibri"/>
              </a:rPr>
              <a:t>MITM: Alice y Bob creen que hablan entre sí, pero Eve controla la comunicación.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Objetivos y primitivas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Seguridad de la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Los bloques básicos de la criptografía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Fundamentos de la criptografía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45688"/>
                </a:solidFill>
                <a:latin typeface="Calibri"/>
              </a:rPr>
              <a:t>Objetivos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Confidencialidad: ¿quién puede leer el mensaje?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Integridad: ¿ha sido modificado?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Autenticación: ¿con quién estoy hablando?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No repudio: ¿puede negarse una acción?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45688"/>
                </a:solidFill>
                <a:latin typeface="Calibri"/>
              </a:rPr>
              <a:t>Primitivas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Cifrado: protege el contenido con clave.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Hash: genera una huella digital del contenido.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MAC: verifica integridad y autenticidad compartiendo clave.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Firma digital: autentica el origen y la integridad del mensaje.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Criptografía simétrica y asimétrica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Diferencias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Qué usa cada enfoque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6634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45688"/>
                </a:solidFill>
                <a:latin typeface="Calibri"/>
              </a:rPr>
              <a:t>Criptografía simétrica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Usa la misma clave para cifrar y descifrar.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Muy rápida y eficiente para grandes volúmenes de datos.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Ejemplo clásico: AES.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Riesgo: la gestión y distribución de claves es crítica.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45688"/>
                </a:solidFill>
                <a:latin typeface="Calibri"/>
              </a:rPr>
              <a:t>Criptografía asimétrica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Usa clave pública y privada.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Permit e intercambio seguro de claves y autenticación.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Ejemplos: RSA, ECC, ElGamal.</a:t>
            </a:r>
          </a:p>
          <a:p>
            <a:r>
              <a:rPr sz="1800">
                <a:solidFill>
                  <a:srgbClr val="263238"/>
                </a:solidFill>
                <a:latin typeface="Calibri"/>
              </a:rPr>
              <a:t>Más lenta, pero fundamental para firmas y certificados.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RSA, ECC y Diffie-Hellman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Criptografía moderna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Fundamentos matemáticos y protocolos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RSA: se basa en la dificultad de factorizar números grandes que son producto de dos primos.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ECC: usa curvas elípticas; ofrece mismo nivel de seguridad con claves más pequeñas.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Diffie-Hellman: permite acordar una clave compartida sin enviarla directamente por el canal.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La clave correcta es combinar estos mecanismos con autenticación para evitar MITM.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En la práctica, todo esto sustenta HTTPS, certificados, firmas digitales y comunicaciones seguras.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B2631"/>
                </a:solidFill>
                <a:latin typeface="Calibri"/>
              </a:rPr>
              <a:t>Ejemplos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B2631"/>
                </a:solidFill>
                <a:latin typeface="Calibri"/>
              </a:rPr>
              <a:t>Puntos clave para recordar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5688"/>
                </a:solidFill>
                <a:latin typeface="Calibri"/>
              </a:rPr>
              <a:t>Criptografía postcuántica y fundamentos actuales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Cifrado resuelve confidencialidad; hash resuelve integridad; firma digital resuelve autenticidad e integridad.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Una clave simétrica es rápida; una clave pública permite autenticar y distribuir claves de forma segura.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AES-GCM y ChaCha20-Poly1305 combinan cifrado y autenticación de forma moderna.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RSA y ECC siguen siendo pilares fundamentales; Diffie-Hellman permite acuerdo de claves sin revelarlas.</a:t>
            </a:r>
          </a:p>
          <a:p>
            <a:pPr algn="l">
              <a:spcAft>
                <a:spcPts val="600"/>
              </a:spcAft>
            </a:pPr>
            <a:r>
              <a:rPr sz="2000">
                <a:solidFill>
                  <a:srgbClr val="263238"/>
                </a:solidFill>
                <a:latin typeface="Calibri"/>
              </a:rPr>
              <a:t>La gestión de claves, nonces y certificados es tan importante como el algoritmo elegido.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5A5A"/>
                </a:solidFill>
                <a:latin typeface="Calibri"/>
              </a:rPr>
              <a:t>Cuestiones de reflexión: ¿qué problema resuelve Diffie-Hellman? ¿qué diferencia hay entre hash y cifrado?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